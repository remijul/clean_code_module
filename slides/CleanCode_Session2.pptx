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B82F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EEF40B7-1623-4C57-A5F4-92414CFA2C84}" v="1" dt="2026-02-13T17:49:36.60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0" d="100"/>
          <a:sy n="100" d="100"/>
        </p:scale>
        <p:origin x="86" y="6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émi Julien" userId="4b31857c740e815a" providerId="LiveId" clId="{54B7E14F-CB5B-4481-8929-6FE6B797E9E7}"/>
    <pc:docChg chg="undo redo custSel modSld modMainMaster">
      <pc:chgData name="Rémi Julien" userId="4b31857c740e815a" providerId="LiveId" clId="{54B7E14F-CB5B-4481-8929-6FE6B797E9E7}" dt="2026-02-13T17:52:09.328" v="23" actId="108"/>
      <pc:docMkLst>
        <pc:docMk/>
      </pc:docMkLst>
      <pc:sldChg chg="modSp mod">
        <pc:chgData name="Rémi Julien" userId="4b31857c740e815a" providerId="LiveId" clId="{54B7E14F-CB5B-4481-8929-6FE6B797E9E7}" dt="2026-02-13T17:50:11.077" v="13" actId="1035"/>
        <pc:sldMkLst>
          <pc:docMk/>
          <pc:sldMk cId="0" sldId="261"/>
        </pc:sldMkLst>
        <pc:spChg chg="mod">
          <ac:chgData name="Rémi Julien" userId="4b31857c740e815a" providerId="LiveId" clId="{54B7E14F-CB5B-4481-8929-6FE6B797E9E7}" dt="2026-02-13T17:50:11.077" v="13" actId="1035"/>
          <ac:spMkLst>
            <pc:docMk/>
            <pc:sldMk cId="0" sldId="261"/>
            <ac:spMk id="43" creationId="{00000000-0000-0000-0000-000000000000}"/>
          </ac:spMkLst>
        </pc:spChg>
      </pc:sldChg>
      <pc:sldChg chg="modSp mod">
        <pc:chgData name="Rémi Julien" userId="4b31857c740e815a" providerId="LiveId" clId="{54B7E14F-CB5B-4481-8929-6FE6B797E9E7}" dt="2026-02-13T17:51:16.340" v="14" actId="207"/>
        <pc:sldMkLst>
          <pc:docMk/>
          <pc:sldMk cId="0" sldId="263"/>
        </pc:sldMkLst>
        <pc:spChg chg="mod">
          <ac:chgData name="Rémi Julien" userId="4b31857c740e815a" providerId="LiveId" clId="{54B7E14F-CB5B-4481-8929-6FE6B797E9E7}" dt="2026-02-13T17:51:16.340" v="14" actId="207"/>
          <ac:spMkLst>
            <pc:docMk/>
            <pc:sldMk cId="0" sldId="263"/>
            <ac:spMk id="9" creationId="{00000000-0000-0000-0000-000000000000}"/>
          </ac:spMkLst>
        </pc:spChg>
      </pc:sldChg>
      <pc:sldChg chg="modSp mod">
        <pc:chgData name="Rémi Julien" userId="4b31857c740e815a" providerId="LiveId" clId="{54B7E14F-CB5B-4481-8929-6FE6B797E9E7}" dt="2026-02-13T17:52:09.328" v="23" actId="108"/>
        <pc:sldMkLst>
          <pc:docMk/>
          <pc:sldMk cId="0" sldId="265"/>
        </pc:sldMkLst>
        <pc:spChg chg="mod">
          <ac:chgData name="Rémi Julien" userId="4b31857c740e815a" providerId="LiveId" clId="{54B7E14F-CB5B-4481-8929-6FE6B797E9E7}" dt="2026-02-13T17:52:09.328" v="23" actId="108"/>
          <ac:spMkLst>
            <pc:docMk/>
            <pc:sldMk cId="0" sldId="265"/>
            <ac:spMk id="5" creationId="{00000000-0000-0000-0000-000000000000}"/>
          </ac:spMkLst>
        </pc:spChg>
        <pc:spChg chg="mod">
          <ac:chgData name="Rémi Julien" userId="4b31857c740e815a" providerId="LiveId" clId="{54B7E14F-CB5B-4481-8929-6FE6B797E9E7}" dt="2026-02-13T17:51:39.982" v="18" actId="1076"/>
          <ac:spMkLst>
            <pc:docMk/>
            <pc:sldMk cId="0" sldId="265"/>
            <ac:spMk id="6" creationId="{00000000-0000-0000-0000-000000000000}"/>
          </ac:spMkLst>
        </pc:spChg>
        <pc:spChg chg="mod">
          <ac:chgData name="Rémi Julien" userId="4b31857c740e815a" providerId="LiveId" clId="{54B7E14F-CB5B-4481-8929-6FE6B797E9E7}" dt="2026-02-13T17:52:03.324" v="22" actId="113"/>
          <ac:spMkLst>
            <pc:docMk/>
            <pc:sldMk cId="0" sldId="265"/>
            <ac:spMk id="8" creationId="{00000000-0000-0000-0000-000000000000}"/>
          </ac:spMkLst>
        </pc:spChg>
      </pc:sldChg>
      <pc:sldMasterChg chg="addSp modSp">
        <pc:chgData name="Rémi Julien" userId="4b31857c740e815a" providerId="LiveId" clId="{54B7E14F-CB5B-4481-8929-6FE6B797E9E7}" dt="2026-02-13T17:49:36.601" v="0"/>
        <pc:sldMasterMkLst>
          <pc:docMk/>
          <pc:sldMasterMk cId="0" sldId="2147483648"/>
        </pc:sldMasterMkLst>
        <pc:picChg chg="add mod">
          <ac:chgData name="Rémi Julien" userId="4b31857c740e815a" providerId="LiveId" clId="{54B7E14F-CB5B-4481-8929-6FE6B797E9E7}" dt="2026-02-13T17:49:36.601" v="0"/>
          <ac:picMkLst>
            <pc:docMk/>
            <pc:sldMasterMk cId="0" sldId="2147483648"/>
            <ac:picMk id="2" creationId="{B0A51E5C-90B7-2953-A010-F28FCC8A6774}"/>
          </ac:picMkLst>
        </pc:pic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96712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>
            <a:extLst>
              <a:ext uri="{FF2B5EF4-FFF2-40B4-BE49-F238E27FC236}">
                <a16:creationId xmlns:a16="http://schemas.microsoft.com/office/drawing/2014/main" id="{B0A51E5C-90B7-2953-A010-F28FCC8A677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285684" y="4806539"/>
            <a:ext cx="572632" cy="336961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Clean Code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457200" y="2651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et analyse propre avec Pandas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33832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2 / 2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2 Data &amp; Strategy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Pipeline d'audit de données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1371600" cy="1371600"/>
          </a:xfrm>
          <a:prstGeom prst="ellipse">
            <a:avLst/>
          </a:prstGeom>
          <a:solidFill>
            <a:srgbClr val="3B82F6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📥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274320" y="265176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Chargement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874520" y="1874520"/>
            <a:ext cx="274320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  <a:tailEnd type="triangle"/>
          </a:ln>
        </p:spPr>
        <p:txBody>
          <a:bodyPr/>
          <a:lstStyle/>
          <a:p>
            <a:endParaRPr lang="fr-FR"/>
          </a:p>
        </p:txBody>
      </p:sp>
      <p:sp>
        <p:nvSpPr>
          <p:cNvPr id="7" name="Shape 5"/>
          <p:cNvSpPr/>
          <p:nvPr/>
        </p:nvSpPr>
        <p:spPr>
          <a:xfrm>
            <a:off x="2194560" y="1188720"/>
            <a:ext cx="1371600" cy="1371600"/>
          </a:xfrm>
          <a:prstGeom prst="ellipse">
            <a:avLst/>
          </a:prstGeom>
          <a:solidFill>
            <a:srgbClr val="3B82F6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2194560" y="1371600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🔍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2011680" y="265176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Exploration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611880" y="1874520"/>
            <a:ext cx="274320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  <a:tailEnd type="triangle"/>
          </a:ln>
        </p:spPr>
        <p:txBody>
          <a:bodyPr/>
          <a:lstStyle/>
          <a:p>
            <a:endParaRPr lang="fr-FR"/>
          </a:p>
        </p:txBody>
      </p:sp>
      <p:sp>
        <p:nvSpPr>
          <p:cNvPr id="11" name="Shape 9"/>
          <p:cNvSpPr/>
          <p:nvPr/>
        </p:nvSpPr>
        <p:spPr>
          <a:xfrm>
            <a:off x="3931920" y="1188720"/>
            <a:ext cx="1371600" cy="1371600"/>
          </a:xfrm>
          <a:prstGeom prst="ellipse">
            <a:avLst/>
          </a:prstGeom>
          <a:solidFill>
            <a:srgbClr val="3B82F6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/>
          <p:nvPr/>
        </p:nvSpPr>
        <p:spPr>
          <a:xfrm>
            <a:off x="3931920" y="1371600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🧹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3749040" y="265176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Nettoyage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349240" y="1874520"/>
            <a:ext cx="274320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  <a:tailEnd type="triangle"/>
          </a:ln>
        </p:spPr>
        <p:txBody>
          <a:bodyPr/>
          <a:lstStyle/>
          <a:p>
            <a:endParaRPr lang="fr-FR"/>
          </a:p>
        </p:txBody>
      </p:sp>
      <p:sp>
        <p:nvSpPr>
          <p:cNvPr id="15" name="Shape 13"/>
          <p:cNvSpPr/>
          <p:nvPr/>
        </p:nvSpPr>
        <p:spPr>
          <a:xfrm>
            <a:off x="5669280" y="1188720"/>
            <a:ext cx="1371600" cy="1371600"/>
          </a:xfrm>
          <a:prstGeom prst="ellipse">
            <a:avLst/>
          </a:prstGeom>
          <a:solidFill>
            <a:srgbClr val="3B82F6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6" name="Text 14"/>
          <p:cNvSpPr/>
          <p:nvPr/>
        </p:nvSpPr>
        <p:spPr>
          <a:xfrm>
            <a:off x="5669280" y="1371600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✅</a:t>
            </a:r>
            <a:endParaRPr lang="en-US" sz="3200" dirty="0"/>
          </a:p>
        </p:txBody>
      </p:sp>
      <p:sp>
        <p:nvSpPr>
          <p:cNvPr id="17" name="Text 15"/>
          <p:cNvSpPr/>
          <p:nvPr/>
        </p:nvSpPr>
        <p:spPr>
          <a:xfrm>
            <a:off x="5486400" y="265176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7086600" y="1874520"/>
            <a:ext cx="274320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  <a:tailEnd type="triangle"/>
          </a:ln>
        </p:spPr>
        <p:txBody>
          <a:bodyPr/>
          <a:lstStyle/>
          <a:p>
            <a:endParaRPr lang="fr-FR"/>
          </a:p>
        </p:txBody>
      </p:sp>
      <p:sp>
        <p:nvSpPr>
          <p:cNvPr id="19" name="Shape 17"/>
          <p:cNvSpPr/>
          <p:nvPr/>
        </p:nvSpPr>
        <p:spPr>
          <a:xfrm>
            <a:off x="7406640" y="1188720"/>
            <a:ext cx="1371600" cy="1371600"/>
          </a:xfrm>
          <a:prstGeom prst="ellipse">
            <a:avLst/>
          </a:prstGeom>
          <a:solidFill>
            <a:srgbClr val="3B82F6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0" name="Text 18"/>
          <p:cNvSpPr/>
          <p:nvPr/>
        </p:nvSpPr>
        <p:spPr>
          <a:xfrm>
            <a:off x="7406640" y="1371600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📊</a:t>
            </a:r>
            <a:endParaRPr lang="en-US" sz="3200" dirty="0"/>
          </a:p>
        </p:txBody>
      </p:sp>
      <p:sp>
        <p:nvSpPr>
          <p:cNvPr id="21" name="Text 19"/>
          <p:cNvSpPr/>
          <p:nvPr/>
        </p:nvSpPr>
        <p:spPr>
          <a:xfrm>
            <a:off x="7223760" y="265176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57200" y="3200400"/>
            <a:ext cx="822960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3" name="Text 21"/>
          <p:cNvSpPr/>
          <p:nvPr/>
        </p:nvSpPr>
        <p:spPr>
          <a:xfrm>
            <a:off x="640080" y="338328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Méthodes clés : </a:t>
            </a: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info() • describe() • dtypes • value_counts() • isna() • duplicated() • sample()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40080" y="3931920"/>
            <a:ext cx="7863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à se poser : 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Combien de lignes/colonnes ? Types corrects ? Valeurs manquantes ? Doublons ? Plages de valeurs cohérentes ?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Gérer les valeurs manquantes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822960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73152" cy="1097280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731520" y="123444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F44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Supprimer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2743200" y="1280160"/>
            <a:ext cx="4114800" cy="457200"/>
          </a:xfrm>
          <a:prstGeom prst="rect">
            <a:avLst/>
          </a:prstGeom>
          <a:solidFill>
            <a:srgbClr val="1E1E1E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2880360" y="1353312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df.dropna()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1520" y="17830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 : &lt; 5% manquant, aléatoire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2377440"/>
            <a:ext cx="822960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0" name="Shape 8"/>
          <p:cNvSpPr/>
          <p:nvPr/>
        </p:nvSpPr>
        <p:spPr>
          <a:xfrm>
            <a:off x="457200" y="2377440"/>
            <a:ext cx="73152" cy="109728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731520" y="251460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Imputer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2743200" y="2560320"/>
            <a:ext cx="4114800" cy="457200"/>
          </a:xfrm>
          <a:prstGeom prst="rect">
            <a:avLst/>
          </a:prstGeom>
          <a:solidFill>
            <a:srgbClr val="1E1E1E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3" name="Text 11"/>
          <p:cNvSpPr/>
          <p:nvPr/>
        </p:nvSpPr>
        <p:spPr>
          <a:xfrm>
            <a:off x="2880360" y="2633472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df.fillna(df.mean())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31520" y="30632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 : Numérique, distribution connue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3657600"/>
            <a:ext cx="822960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6" name="Shape 14"/>
          <p:cNvSpPr/>
          <p:nvPr/>
        </p:nvSpPr>
        <p:spPr>
          <a:xfrm>
            <a:off x="457200" y="3657600"/>
            <a:ext cx="73152" cy="109728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7" name="Text 15"/>
          <p:cNvSpPr/>
          <p:nvPr/>
        </p:nvSpPr>
        <p:spPr>
          <a:xfrm>
            <a:off x="731520" y="379476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Flaguer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2743200" y="3840480"/>
            <a:ext cx="4114800" cy="457200"/>
          </a:xfrm>
          <a:prstGeom prst="rect">
            <a:avLst/>
          </a:prstGeom>
          <a:solidFill>
            <a:srgbClr val="1E1E1E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9" name="Text 17"/>
          <p:cNvSpPr/>
          <p:nvPr/>
        </p:nvSpPr>
        <p:spPr>
          <a:xfrm>
            <a:off x="2880360" y="3913632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df['col_missing'] = df['col'].isna()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31520" y="43434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 : Le manquant est informatif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57200" y="4389120"/>
            <a:ext cx="8229600" cy="548640"/>
          </a:xfrm>
          <a:prstGeom prst="rect">
            <a:avLst/>
          </a:prstGeom>
          <a:solidFill>
            <a:srgbClr val="F59E0B">
              <a:alpha val="15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2" name="Text 20"/>
          <p:cNvSpPr/>
          <p:nvPr/>
        </p:nvSpPr>
        <p:spPr>
          <a:xfrm>
            <a:off x="640080" y="448056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Toujours analyser POURQUOI les données sont manquantes avant de choisir une stratégie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Sélection et filtrage avancés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8229600" cy="50292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548640" y="109728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Méthode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2011680" y="109728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Usage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749040" y="109728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Exemple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1508760"/>
            <a:ext cx="8229600" cy="64008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548640" y="1664208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.loc[]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011680" y="1664208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Label-based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749040" y="1664208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df.loc[df["age"] &gt; 30, "name"]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2148840"/>
            <a:ext cx="8229600" cy="640080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/>
          <p:nvPr/>
        </p:nvSpPr>
        <p:spPr>
          <a:xfrm>
            <a:off x="548640" y="2304288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.iloc[]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011680" y="2304288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Index-based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749040" y="2304288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df.iloc[0:10, 2:5]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2788920"/>
            <a:ext cx="8229600" cy="64008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6" name="Text 14"/>
          <p:cNvSpPr/>
          <p:nvPr/>
        </p:nvSpPr>
        <p:spPr>
          <a:xfrm>
            <a:off x="548640" y="2944368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.query()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2011680" y="2944368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SQL-like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749040" y="2944368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df.query("age &gt; 30 and city == 'Paris'")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3429000"/>
            <a:ext cx="8229600" cy="640080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0" name="Text 18"/>
          <p:cNvSpPr/>
          <p:nvPr/>
        </p:nvSpPr>
        <p:spPr>
          <a:xfrm>
            <a:off x="548640" y="3584448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Boolean mask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2011680" y="3584448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749040" y="3584448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df[df['amount'] &gt; 100]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7200" y="4114800"/>
            <a:ext cx="8229600" cy="914400"/>
          </a:xfrm>
          <a:prstGeom prst="rect">
            <a:avLst/>
          </a:prstGeom>
          <a:solidFill>
            <a:srgbClr val="10B981">
              <a:alpha val="10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4" name="Text 22"/>
          <p:cNvSpPr/>
          <p:nvPr/>
        </p:nvSpPr>
        <p:spPr>
          <a:xfrm>
            <a:off x="640080" y="420624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Chaînage de méthodes (method chaining) pour un code lisible :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40080" y="452628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df.query("amount &gt; 100").groupby("category").agg({"amount": "sum"}).sort_values(ascending=False)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Expressions régulières avec Pandas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8229600" cy="8686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640080" y="109728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str.contains()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46304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Filtrer les lignes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926080" y="1143000"/>
            <a:ext cx="5577840" cy="594360"/>
          </a:xfrm>
          <a:prstGeom prst="rect">
            <a:avLst/>
          </a:prstGeom>
          <a:solidFill>
            <a:srgbClr val="1E1E1E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3063240" y="1261872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df[df["email"].str.contains("@gmail", na=False)]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2011680"/>
            <a:ext cx="8229600" cy="8686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/>
          <p:nvPr/>
        </p:nvSpPr>
        <p:spPr>
          <a:xfrm>
            <a:off x="640080" y="210312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str.extract()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" y="246888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Extraire un pattern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926080" y="2148840"/>
            <a:ext cx="5577840" cy="594360"/>
          </a:xfrm>
          <a:prstGeom prst="rect">
            <a:avLst/>
          </a:prstGeom>
          <a:solidFill>
            <a:srgbClr val="1E1E1E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/>
          <p:nvPr/>
        </p:nvSpPr>
        <p:spPr>
          <a:xfrm>
            <a:off x="3063240" y="2267712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df["code"] = df["ref"].str.extract(r"(\d{4})")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3017520"/>
            <a:ext cx="8229600" cy="8686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/>
          <p:nvPr/>
        </p:nvSpPr>
        <p:spPr>
          <a:xfrm>
            <a:off x="640080" y="310896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str.replace()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0080" y="347472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Remplacer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926080" y="3154680"/>
            <a:ext cx="5577840" cy="594360"/>
          </a:xfrm>
          <a:prstGeom prst="rect">
            <a:avLst/>
          </a:prstGeom>
          <a:solidFill>
            <a:srgbClr val="1E1E1E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7" name="Text 15"/>
          <p:cNvSpPr/>
          <p:nvPr/>
        </p:nvSpPr>
        <p:spPr>
          <a:xfrm>
            <a:off x="3063240" y="3273552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df["phone"].str.replace(r"\D", "", regex=True)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4023360"/>
            <a:ext cx="8229600" cy="8686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9" name="Text 17"/>
          <p:cNvSpPr/>
          <p:nvPr/>
        </p:nvSpPr>
        <p:spPr>
          <a:xfrm>
            <a:off x="640080" y="411480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str.match()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40080" y="448056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Valider un format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926080" y="4160520"/>
            <a:ext cx="5577840" cy="594360"/>
          </a:xfrm>
          <a:prstGeom prst="rect">
            <a:avLst/>
          </a:prstGeom>
          <a:solidFill>
            <a:srgbClr val="1E1E1E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2" name="Text 20"/>
          <p:cNvSpPr/>
          <p:nvPr/>
        </p:nvSpPr>
        <p:spPr>
          <a:xfrm>
            <a:off x="3063240" y="4279392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df["email"].str.match(r"^[\w.-]+@[\w.-]+$")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Patterns regex essentiels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4114800" cy="8686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4" name="Shape 2"/>
          <p:cNvSpPr/>
          <p:nvPr/>
        </p:nvSpPr>
        <p:spPr>
          <a:xfrm>
            <a:off x="548640" y="1143000"/>
            <a:ext cx="1188720" cy="594360"/>
          </a:xfrm>
          <a:prstGeom prst="rect">
            <a:avLst/>
          </a:prstGeom>
          <a:solidFill>
            <a:srgbClr val="1E1E1E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640080" y="1261872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\d+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920240" y="114300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ou plusieurs chiffres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920240" y="146304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123, 45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754880" y="1005840"/>
            <a:ext cx="4114800" cy="8686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9" name="Shape 7"/>
          <p:cNvSpPr/>
          <p:nvPr/>
        </p:nvSpPr>
        <p:spPr>
          <a:xfrm>
            <a:off x="4846320" y="1143000"/>
            <a:ext cx="1188720" cy="594360"/>
          </a:xfrm>
          <a:prstGeom prst="rect">
            <a:avLst/>
          </a:prstGeom>
          <a:solidFill>
            <a:srgbClr val="1E1E1E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4937760" y="1261872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\w+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217920" y="114300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 (lettres, chiffres, _)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217920" y="146304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hello_123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2011680"/>
            <a:ext cx="4114800" cy="8686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4" name="Shape 12"/>
          <p:cNvSpPr/>
          <p:nvPr/>
        </p:nvSpPr>
        <p:spPr>
          <a:xfrm>
            <a:off x="548640" y="2148840"/>
            <a:ext cx="1188720" cy="594360"/>
          </a:xfrm>
          <a:prstGeom prst="rect">
            <a:avLst/>
          </a:prstGeom>
          <a:solidFill>
            <a:srgbClr val="1E1E1E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5" name="Text 13"/>
          <p:cNvSpPr/>
          <p:nvPr/>
        </p:nvSpPr>
        <p:spPr>
          <a:xfrm>
            <a:off x="640080" y="2267712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\s+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920240" y="214884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Espaces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920240" y="246888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, \t, \n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754880" y="2011680"/>
            <a:ext cx="4114800" cy="8686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9" name="Shape 17"/>
          <p:cNvSpPr/>
          <p:nvPr/>
        </p:nvSpPr>
        <p:spPr>
          <a:xfrm>
            <a:off x="4846320" y="2148840"/>
            <a:ext cx="1188720" cy="594360"/>
          </a:xfrm>
          <a:prstGeom prst="rect">
            <a:avLst/>
          </a:prstGeom>
          <a:solidFill>
            <a:srgbClr val="1E1E1E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0" name="Text 18"/>
          <p:cNvSpPr/>
          <p:nvPr/>
        </p:nvSpPr>
        <p:spPr>
          <a:xfrm>
            <a:off x="4937760" y="2267712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[A-Z]{2}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217920" y="214884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majuscules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217920" y="246888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FR, US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7200" y="3017520"/>
            <a:ext cx="4114800" cy="8686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4" name="Shape 22"/>
          <p:cNvSpPr/>
          <p:nvPr/>
        </p:nvSpPr>
        <p:spPr>
          <a:xfrm>
            <a:off x="548640" y="3154680"/>
            <a:ext cx="1188720" cy="594360"/>
          </a:xfrm>
          <a:prstGeom prst="rect">
            <a:avLst/>
          </a:prstGeom>
          <a:solidFill>
            <a:srgbClr val="1E1E1E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5" name="Text 23"/>
          <p:cNvSpPr/>
          <p:nvPr/>
        </p:nvSpPr>
        <p:spPr>
          <a:xfrm>
            <a:off x="640080" y="3273552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^...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920240" y="315468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Début de chaîne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920240" y="347472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^Hello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754880" y="3017520"/>
            <a:ext cx="4114800" cy="8686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9" name="Shape 27"/>
          <p:cNvSpPr/>
          <p:nvPr/>
        </p:nvSpPr>
        <p:spPr>
          <a:xfrm>
            <a:off x="4846320" y="3154680"/>
            <a:ext cx="1188720" cy="594360"/>
          </a:xfrm>
          <a:prstGeom prst="rect">
            <a:avLst/>
          </a:prstGeom>
          <a:solidFill>
            <a:srgbClr val="1E1E1E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0" name="Text 28"/>
          <p:cNvSpPr/>
          <p:nvPr/>
        </p:nvSpPr>
        <p:spPr>
          <a:xfrm>
            <a:off x="4937760" y="3273552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...$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6217920" y="315468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 de chaîne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217920" y="347472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.com$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57200" y="4023360"/>
            <a:ext cx="4114800" cy="8686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4" name="Shape 32"/>
          <p:cNvSpPr/>
          <p:nvPr/>
        </p:nvSpPr>
        <p:spPr>
          <a:xfrm>
            <a:off x="548640" y="4160520"/>
            <a:ext cx="1188720" cy="594360"/>
          </a:xfrm>
          <a:prstGeom prst="rect">
            <a:avLst/>
          </a:prstGeom>
          <a:solidFill>
            <a:srgbClr val="1E1E1E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5" name="Text 33"/>
          <p:cNvSpPr/>
          <p:nvPr/>
        </p:nvSpPr>
        <p:spPr>
          <a:xfrm>
            <a:off x="640080" y="4279392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(a|b)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1920240" y="416052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OU b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1920240" y="448056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(oui|non)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4754880" y="4023360"/>
            <a:ext cx="4114800" cy="8686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9" name="Shape 37"/>
          <p:cNvSpPr/>
          <p:nvPr/>
        </p:nvSpPr>
        <p:spPr>
          <a:xfrm>
            <a:off x="4846320" y="4160520"/>
            <a:ext cx="1188720" cy="594360"/>
          </a:xfrm>
          <a:prstGeom prst="rect">
            <a:avLst/>
          </a:prstGeom>
          <a:solidFill>
            <a:srgbClr val="1E1E1E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0" name="Text 38"/>
          <p:cNvSpPr/>
          <p:nvPr/>
        </p:nvSpPr>
        <p:spPr>
          <a:xfrm>
            <a:off x="4937760" y="4279392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\d{5}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6217920" y="416052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Exactement 5 chiffres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6217920" y="448056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75001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457200" y="47853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Tester vos regex : regex101.com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Statistiques et agrégations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3931920" cy="22860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640080" y="109728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B82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Méthodes descriptives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1554480"/>
            <a:ext cx="3657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describe() - Stats complètes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mean(), median(), std()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min(), max(), sum()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quantile([0.25, 0.5, 0.75])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value_counts() - Fréquences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nunique() - Valeurs uniques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754880" y="1005840"/>
            <a:ext cx="3931920" cy="22860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4937760" y="109728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Agrégations groupées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937760" y="1554480"/>
            <a:ext cx="3657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groupby().agg()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pivot_table()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crosstab()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resample() - Séries temporelles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rolling() - Moyennes mobiles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3474720"/>
            <a:ext cx="8229600" cy="1371600"/>
          </a:xfrm>
          <a:prstGeom prst="rect">
            <a:avLst/>
          </a:prstGeom>
          <a:solidFill>
            <a:srgbClr val="1E1E1E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640080" y="3611880"/>
            <a:ext cx="78638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Agrégation multiple avec fonctions personnalisées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df.groupby("category").agg({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"amount": ["sum", "mean", "count"],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"quantity": lambda x: x.quantile(0.9)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}).round(2)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Présenter les résultats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822960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640080" y="114300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3B82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Styling Pandas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15544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Mise en forme conditionnelle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383280" y="1188720"/>
            <a:ext cx="5120640" cy="731520"/>
          </a:xfrm>
          <a:prstGeom prst="rect">
            <a:avLst/>
          </a:prstGeom>
          <a:solidFill>
            <a:srgbClr val="1E1E1E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3566160" y="137160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df.style.background_gradient(cmap="RdYlGn")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2286000"/>
            <a:ext cx="822960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/>
          <p:nvPr/>
        </p:nvSpPr>
        <p:spPr>
          <a:xfrm>
            <a:off x="640080" y="242316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3B82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Export propre</a:t>
            </a:r>
            <a:endParaRPr lang="en-US" sz="1800" dirty="0">
              <a:solidFill>
                <a:srgbClr val="3B82F6"/>
              </a:solidFill>
            </a:endParaRPr>
          </a:p>
        </p:txBody>
      </p:sp>
      <p:sp>
        <p:nvSpPr>
          <p:cNvPr id="10" name="Text 8"/>
          <p:cNvSpPr/>
          <p:nvPr/>
        </p:nvSpPr>
        <p:spPr>
          <a:xfrm>
            <a:off x="640080" y="283464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Formats standardisés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383280" y="2468880"/>
            <a:ext cx="5120640" cy="731520"/>
          </a:xfrm>
          <a:prstGeom prst="rect">
            <a:avLst/>
          </a:prstGeom>
          <a:solidFill>
            <a:srgbClr val="1E1E1E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/>
          <p:nvPr/>
        </p:nvSpPr>
        <p:spPr>
          <a:xfrm>
            <a:off x="3566160" y="265176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df.to_excel("report.xlsx", index=False)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3566160"/>
            <a:ext cx="822960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/>
          <p:nvPr/>
        </p:nvSpPr>
        <p:spPr>
          <a:xfrm>
            <a:off x="640080" y="370332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3B82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Formatage numérique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40080" y="411480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Lisibilité des nombres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383280" y="3749040"/>
            <a:ext cx="5120640" cy="731520"/>
          </a:xfrm>
          <a:prstGeom prst="rect">
            <a:avLst/>
          </a:prstGeom>
          <a:solidFill>
            <a:srgbClr val="1E1E1E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7" name="Text 15"/>
          <p:cNvSpPr/>
          <p:nvPr/>
        </p:nvSpPr>
        <p:spPr>
          <a:xfrm>
            <a:off x="3566160" y="393192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df.style.format({"amount": "{:,.2f}€"})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Checklist Clean Code pour projets data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8229600" cy="4572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548640" y="1078992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□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05840" y="1078992"/>
            <a:ext cx="7498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 de projet claire (data/, src/, notebooks/)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57200" y="1508760"/>
            <a:ext cx="8229600" cy="457200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548640" y="1581912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□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05840" y="1581912"/>
            <a:ext cx="7498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Docstrings sur toutes les fonctions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57200" y="2011680"/>
            <a:ext cx="8229600" cy="4572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548640" y="2084832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□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05840" y="2084832"/>
            <a:ext cx="7498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Nommage explicite (df_cleaned, calculate_revenue)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457200" y="2514600"/>
            <a:ext cx="8229600" cy="457200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3" name="Text 11"/>
          <p:cNvSpPr/>
          <p:nvPr/>
        </p:nvSpPr>
        <p:spPr>
          <a:xfrm>
            <a:off x="548640" y="2587752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□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005840" y="2587752"/>
            <a:ext cx="7498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 de magic numbers (constantes nommées)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457200" y="3017520"/>
            <a:ext cx="8229600" cy="4572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6" name="Text 14"/>
          <p:cNvSpPr/>
          <p:nvPr/>
        </p:nvSpPr>
        <p:spPr>
          <a:xfrm>
            <a:off x="548640" y="3090672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□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005840" y="3090672"/>
            <a:ext cx="7498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documenté (% missing, doublons, anomalies)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457200" y="3520440"/>
            <a:ext cx="8229600" cy="457200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9" name="Text 17"/>
          <p:cNvSpPr/>
          <p:nvPr/>
        </p:nvSpPr>
        <p:spPr>
          <a:xfrm>
            <a:off x="548640" y="3593592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□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005840" y="3593592"/>
            <a:ext cx="7498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reproductible (paramètres, seed)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457200" y="4023360"/>
            <a:ext cx="8229600" cy="4572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2" name="Text 20"/>
          <p:cNvSpPr/>
          <p:nvPr/>
        </p:nvSpPr>
        <p:spPr>
          <a:xfrm>
            <a:off x="548640" y="4096512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□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005840" y="4096512"/>
            <a:ext cx="7498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 des erreurs (try/except, validation)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457200" y="4526280"/>
            <a:ext cx="8229600" cy="457200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5" name="Text 23"/>
          <p:cNvSpPr/>
          <p:nvPr/>
        </p:nvSpPr>
        <p:spPr>
          <a:xfrm>
            <a:off x="548640" y="4599432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□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005840" y="4599432"/>
            <a:ext cx="7498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Exports formatés et lisibles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Récapitulatif du module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3931920" cy="2926080"/>
          </a:xfrm>
          <a:prstGeom prst="rect">
            <a:avLst/>
          </a:prstGeom>
          <a:solidFill>
            <a:srgbClr val="FFFFFF">
              <a:alpha val="90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640080" y="123444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Session 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1737360"/>
            <a:ext cx="365760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Documentation &amp; help()</a:t>
            </a:r>
          </a:p>
          <a:p>
            <a:pPr marL="0" indent="0">
              <a:buNone/>
            </a:pPr>
            <a:r>
              <a:rPr lang="en-US" sz="15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Lecture méthodique du code</a:t>
            </a:r>
          </a:p>
          <a:p>
            <a:pPr marL="0" indent="0">
              <a:buNone/>
            </a:pPr>
            <a:r>
              <a:rPr lang="en-US" sz="15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Anti-patterns à </a:t>
            </a:r>
            <a:r>
              <a:rPr lang="en-US" sz="1500" b="1" dirty="0" err="1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éviter</a:t>
            </a:r>
            <a:endParaRPr lang="en-US" sz="1500" b="1" dirty="0">
              <a:solidFill>
                <a:srgbClr val="3B82F6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en-US" sz="15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Docstrings NumPy style</a:t>
            </a:r>
          </a:p>
          <a:p>
            <a:pPr marL="0" indent="0">
              <a:buNone/>
            </a:pPr>
            <a:r>
              <a:rPr lang="en-US" sz="15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Structure de </a:t>
            </a:r>
            <a:r>
              <a:rPr lang="en-US" sz="1500" b="1" dirty="0" err="1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</a:t>
            </a:r>
            <a:endParaRPr lang="en-US" sz="1500" b="1" dirty="0">
              <a:solidFill>
                <a:srgbClr val="3B82F6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4754880" y="1097280"/>
            <a:ext cx="3931920" cy="2926080"/>
          </a:xfrm>
          <a:prstGeom prst="rect">
            <a:avLst/>
          </a:prstGeom>
          <a:solidFill>
            <a:srgbClr val="FFFFFF">
              <a:alpha val="90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4937760" y="123444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Session 2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937760" y="1737360"/>
            <a:ext cx="365760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Pipeline d'audit</a:t>
            </a:r>
            <a:endParaRPr lang="en-US" sz="1500" b="1" dirty="0">
              <a:solidFill>
                <a:srgbClr val="3B82F6"/>
              </a:solidFill>
            </a:endParaRPr>
          </a:p>
          <a:p>
            <a:pPr marL="0" indent="0">
              <a:buNone/>
            </a:pPr>
            <a:r>
              <a:rPr lang="en-US" sz="15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Gestion des valeurs manquantes</a:t>
            </a:r>
            <a:endParaRPr lang="en-US" sz="1500" b="1" dirty="0">
              <a:solidFill>
                <a:srgbClr val="3B82F6"/>
              </a:solidFill>
            </a:endParaRPr>
          </a:p>
          <a:p>
            <a:pPr marL="0" indent="0">
              <a:buNone/>
            </a:pPr>
            <a:r>
              <a:rPr lang="en-US" sz="15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r>
              <a:rPr lang="en-US" sz="1500" b="1" dirty="0" err="1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Sélection</a:t>
            </a:r>
            <a:r>
              <a:rPr lang="en-US" sz="15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et filtrage avancés</a:t>
            </a:r>
            <a:endParaRPr lang="en-US" sz="1500" b="1" dirty="0">
              <a:solidFill>
                <a:srgbClr val="3B82F6"/>
              </a:solidFill>
            </a:endParaRPr>
          </a:p>
          <a:p>
            <a:pPr marL="0" indent="0">
              <a:buNone/>
            </a:pPr>
            <a:r>
              <a:rPr lang="en-US" sz="15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Regex avec Pandas</a:t>
            </a:r>
            <a:endParaRPr lang="en-US" sz="1500" b="1" dirty="0">
              <a:solidFill>
                <a:srgbClr val="3B82F6"/>
              </a:solidFill>
            </a:endParaRPr>
          </a:p>
          <a:p>
            <a:pPr marL="0" indent="0">
              <a:buNone/>
            </a:pPr>
            <a:r>
              <a:rPr lang="en-US" sz="15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Agrégations et présentation</a:t>
            </a:r>
            <a:endParaRPr lang="en-US" sz="1500" b="1" dirty="0">
              <a:solidFill>
                <a:srgbClr val="3B82F6"/>
              </a:solidFill>
            </a:endParaRPr>
          </a:p>
        </p:txBody>
      </p:sp>
      <p:sp>
        <p:nvSpPr>
          <p:cNvPr id="9" name="Text 7"/>
          <p:cNvSpPr/>
          <p:nvPr/>
        </p:nvSpPr>
        <p:spPr>
          <a:xfrm>
            <a:off x="457200" y="43891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"Code is read much more often than it is written." — Guido van Rossum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766</Words>
  <Application>Microsoft Office PowerPoint</Application>
  <PresentationFormat>Affichage à l'écran (16:9)</PresentationFormat>
  <Paragraphs>156</Paragraphs>
  <Slides>10</Slides>
  <Notes>10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10</vt:i4>
      </vt:variant>
    </vt:vector>
  </HeadingPairs>
  <TitlesOfParts>
    <vt:vector size="15" baseType="lpstr">
      <vt:lpstr>Arial</vt:lpstr>
      <vt:lpstr>Calibri</vt:lpstr>
      <vt:lpstr>Consolas</vt:lpstr>
      <vt:lpstr>Trebuchet MS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Clean Code - Session 2</dc:title>
  <dc:subject>PptxGenJS Presentation</dc:subject>
  <dc:creator>Module Clean Code - Master 2 Data &amp; Strategy</dc:creator>
  <cp:lastModifiedBy>Rémi Julien</cp:lastModifiedBy>
  <cp:revision>1</cp:revision>
  <dcterms:created xsi:type="dcterms:W3CDTF">2026-02-13T09:00:45Z</dcterms:created>
  <dcterms:modified xsi:type="dcterms:W3CDTF">2026-02-13T17:52:15Z</dcterms:modified>
</cp:coreProperties>
</file>